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2026 Snow 기반기술 연구 진행현황 보고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B978"/>
                </a:solidFill>
                <a:latin typeface="맑은 고딕"/>
              </a:rPr>
              <a:t>— 노면 정량화 및 기상·노면 환경 영향도 성능보정 모델(제동·가속·성능지수) 고도화 검증 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2514600" cy="2240280"/>
          </a:xfrm>
          <a:prstGeom prst="roundRect">
            <a:avLst>
              <a:gd name="adj" fmla="val 4000"/>
            </a:avLst>
          </a:prstGeom>
          <a:solidFill>
            <a:srgbClr val="203454"/>
          </a:solidFill>
          <a:ln w="15240">
            <a:solidFill>
              <a:srgbClr val="50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200" b="1">
                <a:solidFill>
                  <a:srgbClr val="FFC36E"/>
                </a:solidFill>
                <a:latin typeface="맑은 고딕"/>
              </a:rPr>
              <a:t>01. 평가 데이터 및 이상환경 진단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25~26 시즌 핀란드 Ivalo Loop2 37세션 전수 계측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제동 1,974 Runs &amp; 가속 1,967 Runs (총 3,941 Runs)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3대 이상환경(고온·융해재동결·신설) 86.3% 편중 규명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이상환경 재현성 오차 2.6배 폭증 → ML 보정 후 46~49% 복원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931920"/>
            <a:ext cx="2514600" cy="2240280"/>
          </a:xfrm>
          <a:prstGeom prst="roundRect">
            <a:avLst>
              <a:gd name="adj" fmla="val 4000"/>
            </a:avLst>
          </a:prstGeom>
          <a:solidFill>
            <a:srgbClr val="203454"/>
          </a:solidFill>
          <a:ln w="15240">
            <a:solidFill>
              <a:srgbClr val="50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200" b="1">
                <a:solidFill>
                  <a:srgbClr val="FFC36E"/>
                </a:solidFill>
                <a:latin typeface="맑은 고딕"/>
              </a:rPr>
              <a:t>02. 기상·노면 다중공선성 &amp; Diff 분석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기온-절대습도 극단적 공선성(r=0.970, VIF=16.89) 규명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Case 1 [눌림량+절대습도](VIF 1.07) 직교성 확보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Case 3 [기온+상대습도](VIF 2.53) 빙점 위상전이 포착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트랙터 그루밍(Preparing) 절대수치 불연속점 → Δ상대수치 해결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514600" cy="2240280"/>
          </a:xfrm>
          <a:prstGeom prst="roundRect">
            <a:avLst>
              <a:gd name="adj" fmla="val 4000"/>
            </a:avLst>
          </a:prstGeom>
          <a:solidFill>
            <a:srgbClr val="203454"/>
          </a:solidFill>
          <a:ln w="15240">
            <a:solidFill>
              <a:srgbClr val="50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200" b="1">
                <a:solidFill>
                  <a:srgbClr val="FFC36E"/>
                </a:solidFill>
                <a:latin typeface="맑은 고딕"/>
              </a:rPr>
              <a:t>03. 제동 &amp; 가속 6종 ML 보정식 검증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1·2차 쌍대 95세트 LOOCV 교차검증 완료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[제동] Case 3 RF: Raw 0.878m → 0.495m (+43.6% 개선)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[가속] Case 3 SVR: Raw 0.428s → 0.229s (+46.3% 개선)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[설명력] Case 1 RF: 제동 R²=0.591, 가속 R²=0.626 1위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931920"/>
            <a:ext cx="2514600" cy="2240280"/>
          </a:xfrm>
          <a:prstGeom prst="roundRect">
            <a:avLst>
              <a:gd name="adj" fmla="val 4000"/>
            </a:avLst>
          </a:prstGeom>
          <a:solidFill>
            <a:srgbClr val="203454"/>
          </a:solidFill>
          <a:ln w="15240">
            <a:solidFill>
              <a:srgbClr val="50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/>
            <a:r>
              <a:rPr sz="1200" b="1">
                <a:solidFill>
                  <a:srgbClr val="FFC36E"/>
                </a:solidFill>
                <a:latin typeface="맑은 고딕"/>
              </a:rPr>
              <a:t>04. 순수 시험타이어 지수(%p) &amp; 운용표준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순수 시험타이어(T1~T4, 54세트) Index(%p) 복원 검증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전통 Control 비례보정 한계 돌파 (+20.6%~+23.6% 추가 감축)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17개 의뢰서 전수 승패 및 4대 기상 레짐(Regime) 규명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E6EBF5"/>
                </a:solidFill>
                <a:latin typeface="맑은 고딕"/>
              </a:rPr>
              <a:t>• 실무 Dual-Mode (Primary Case 3 + 보조 Case 1) 표준 확립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연구 배경 및 진행현황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[Snow 기반기술 중장기 로드맵 (2023~2028)]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11548872" cy="21488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601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연구 목적 및 단계별 추진 방향 (24~25년 기반 연구 → 26년 제동·가속·성능지수 통합 보정 완성)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1691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1E1E"/>
                </a:solidFill>
                <a:latin typeface="맑은 고딕"/>
              </a:rPr>
              <a:t>• 연구 배경: 기후 온난화 및 이상 기상(고온·강설·융해-재동결) 빈발로 인해 동절기 Snow 실차 시험의 환경 외란 및 재현성(Reproducibility) 저하 심화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  <a:latin typeface="맑은 고딕"/>
              </a:rPr>
              <a:t>   - 2024년 연구: 패턴 간 성능 차이(2.7%) 대비 시험 C.V(2.3%~3.4%)가 유사하여 반복 시험 시 순위 역전 발생 확인 → 노면 특성 정량화(눌림량/경도) 도입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  <a:latin typeface="맑은 고딕"/>
              </a:rPr>
              <a:t>   - 2025년 연구: 설질(융해·재동결/Preparing), 신설, 평가위치, 기상(기온/절대습도) 4대 인자 정의 및 제동거리 상대수치(Δ) 기반 1차 보정식 제시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D2323"/>
                </a:solidFill>
                <a:latin typeface="맑은 고딕"/>
              </a:rPr>
              <a:t>• 2026년 핵심 달성 과제: ① 제동(Braking)을 넘어 가속(Acceleration)까지 보정 영역 전면 확장, ② 기상·노면 3대 인자 조합(Case 1~3) 열역학 다중공선성 규명,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5AAA"/>
                </a:solidFill>
                <a:latin typeface="맑은 고딕"/>
              </a:rPr>
              <a:t>   - ③ 6종 머신러닝(OLS/Ridge/Poly/SVR/RF/KNN) 엄밀 교차검증, ④ 순수 시험타이어(T1~T4) 성능지수(%p) 복원력 입증 및 실무 Dual-Mode 보정 표준화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200400"/>
          <a:ext cx="11548872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20240"/>
                <a:gridCol w="1920240"/>
                <a:gridCol w="2377440"/>
                <a:gridCol w="1947672"/>
                <a:gridCol w="1737360"/>
              </a:tblGrid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'23년 ~ '24년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(기반 구축)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'25년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(보정식 도출)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'26년 (금번 보고)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(제동·가속·지수 검증 고도화)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'27년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(신규 평가법 확장)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'28년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(표준화/인프라)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핵심 단계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노면특성 정량화 및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환경인자 영향도 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환경 인자 영향도 정립 및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1차 보정식 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제동·가속·성능지수(%p)</a:t>
                      </a:r>
                    </a:p>
                    <a:p>
                      <a:pPr algn="l">
                        <a:defRPr sz="9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통합 ML 보정식 검증 완료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환경 보정 실시간 자동화 및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신규 성능 평가법 개발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Snow 평가 표준화 및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PG Infra 운영 효율화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노면 계측</a:t>
                      </a:r>
                    </a:p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(Quantification)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광학 높이센서(눌림량)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적외선 온도센서 도입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3D Grid/Contour 맵핑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트랙터 Preparing 전·후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노면 경도/눌림량 추적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평가 위치별 편차 규명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37세션 211세트 노면 DB화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Preparing 불연속점 극복을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위한 Δ상대수치 모델 정립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실시간 차량 탑재형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노면 눌림량/슬립 연동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노면 경도 기준 자동 판정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글로벌 PG (Ivalo/Techno)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통합 노면 모니터링 체계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</a:tr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환경 영향도</a:t>
                      </a:r>
                    </a:p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(Environment)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기온-습도 상관성(R²=0.79)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강설 시 C.V 1.5배 증가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스펙별 민감도 차이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4대 영향인자 체계화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3대 이상환경 조건 정의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(-5°C초과, 융해재동결, 신설)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이상환경 비중 86.3% 진단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기온-절대습도 다중공선성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(VIF=16.89) 물리적 규명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타이어 컴파운드/패턴별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유리전이온도(Tg) 민감도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특화 보정 계수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기상 예보 연동 최적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시험 시간대/그루밍 스케줄링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성능 보정 모델</a:t>
                      </a:r>
                    </a:p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(Correction ML)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환경 외란에 의한 패턴 간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순위 역전 현상 규명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TDC 영향도 6배 차이 확인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기상+노면 인자 기반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제동거리 차이(Diff) 회귀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1st vs 2nd 편차 감소 확인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• 3대 조합(Case 1~3) × 6종 ML</a:t>
                      </a:r>
                    </a:p>
                    <a:p>
                      <a:pPr algn="l">
                        <a:defRPr sz="9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• 제동 +43.6%, 가속 +46.3% 복원</a:t>
                      </a:r>
                    </a:p>
                    <a:p>
                      <a:pPr algn="l">
                        <a:defRPr sz="9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• 시험타이어 지수 +23.6% 개선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Handling / Slalom 등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횡방향(Lateral) Snow 평가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환경 보정 모델 확장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시험 의뢰서 판정 시스템 내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AI 보정 지수 공식 탑재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</a:tr>
              <a:tr h="52578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현업 적용 상태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센서 계측 시스템 구축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시험 파일럿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Dual-Mode 보정 가이드라인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수립 (Case 3 주력 + Case 1 보조)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전 시험항목 통합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완전 자동화 표준 프로세스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평가 및 데이터 개요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[2025년 vs 2026년 실차 시험 규모 및 노면 눌림량 계측 인프라]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566928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2025년 vs 2026년 Snow 실차 평가 데이터셋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53312"/>
          <a:ext cx="5394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2194560"/>
              </a:tblGrid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2025년 보고 (24~25 시즌)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2026년 보고 (25~26 시즌)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평가 기간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'24.12.21 ~ '25.01.15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(14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'25.12.29 ~ '26.01.24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(37 Sessions, 오전/오후)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평가 장소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핀란드 Ivalo PG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(Techno-track Loop2)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핀란드 Ivalo PG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(Techno-track Loop2 동일)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평가 항목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Snow ABS Braking 단독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(40 → 5 kph 제동거리)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Snow Braking (40→5 kph, m)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+ Snow Acceleration (5→40 kph, s)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총 Run 데이터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총 1,404 Runs (제동)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총 3,941 Runs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(제동 1,974 + 가속 1,967 Runs)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평가 의뢰서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24개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총 20개 Request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(1·2차 쌍대 반복 17개 ReqNo)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타이어 세트 수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68개 Spec (단일/반복 혼재)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전체 211개 세트 → 쌍대 95세트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(Control 41세트 + Test 54세트)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환경·노면 인자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기온, 절대습도, 눌림량,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노면경도(Hardness)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3대 조합 비교 (눌림량+절대습도 /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기온+절대습도 / 기온+상대습도)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검증 수준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제동거리 물리량(m)</a:t>
                      </a:r>
                    </a:p>
                    <a:p>
                      <a:pPr algn="l">
                        <a:defRPr sz="9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단순 선형/다항 보정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물리량(m, s) + 시험타이어 지수(%p)</a:t>
                      </a:r>
                    </a:p>
                    <a:p>
                      <a:pPr algn="l">
                        <a:defRPr sz="9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6종 ML LOOCV 전수 교차검증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0352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💡 2026년 핵심 확장: 제동(1,974 Runs)뿐 아니라 슬립 제어가 민감한 가속(1,967 Runs) 시험까지 통합 검증하고, Control을 제외한 순수 시험타이어(T1~T4, 54세트)의 성능지수(%p) 복원력을 최초 규명함.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914400"/>
            <a:ext cx="5742432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노면 눌림량 계측 센서 인프라 및 1·2차 쌍대(Paired) 프로토콜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486400" cy="1874519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맑은 고딕"/>
              </a:rPr>
              <a:t>• 차량 장착형 다채널 변위 센서 지그 및 3D 공간 보간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차량 외측(Out) 및 타이어 직후방(Tire) 레이저 센서 간 높이 차이를 통해 순수 적설 눌림량(Sinkage Depth, mm) 실측 → 361개 스냅샷 3D 시공간 격자 보간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기상 조건(Weather): FMI 3대 관측소 1분 단위 기온(-28.0~-0.7°C), 상대습도(RH), Sonntag 물리 수증기압 방정식 기반 절대습도(AH, g/m³) 동기화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05AAA"/>
                </a:solidFill>
                <a:latin typeface="맑은 고딕"/>
              </a:rPr>
              <a:t>• 1st vs 2nd 쌍대(Paired) 반복 시험 구조 (17개 의뢰서, 95세트)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동일 타이어(C1~C3, T1~T4)를 시차를 두고 1차·2차 반복 평가하여 환경 변화량(ΔX)에 따른 성능 편차(ΔY)를 머신러닝으로 정밀 복원</a:t>
            </a:r>
          </a:p>
        </p:txBody>
      </p:sp>
      <p:pic>
        <p:nvPicPr>
          <p:cNvPr id="13" name="Picture 12" descr="40_2026_Snow_Surface_센서_인프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915445"/>
            <a:ext cx="5440680" cy="1697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Surface 영향 인자 정의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[설질(Metamorphism) · 신설(Snowfall) · 평가위치 · 기상조건 4대 메커니즘]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5696712" cy="2395728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① 설질 (Snow Metamorphism: 융해·재동결 및 압설)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440680" cy="1920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맑은 고딕"/>
              </a:rPr>
              <a:t>• 온도 구배 및 일사량에 의한 결정 변태 (융해 → 재결정화)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과거 기온이 -5°C 이상 상승 후 재하강 시, 눈 입자 표면 수막이 재동결되며 조대 결정(Ice Crust) 형성 → 마찰계수 급변 및 재현성 붕괴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CD2323"/>
                </a:solidFill>
                <a:latin typeface="맑은 고딕"/>
              </a:rPr>
              <a:t>• 기계적 압력(트랙터 Preparing 그루밍)에 의한 소결(Sintering)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오전/오후 시험 전 트랙터 그루밍 작업 시 적설 밀도·경도·눌림량이 인위적으로 리셋(Reset)되어 절대수치 성능맵의 불연속점(Discontinuity) 발생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96712" cy="2395728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00584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② 신설 (Fresh Snowfall: 결정 형태 및 부유층 형성)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44168"/>
            <a:ext cx="5440680" cy="1920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맑은 고딕"/>
              </a:rPr>
              <a:t>• 기온·습도 조건에 따른 신설 결정 형태(Dendrite, Plate 등) 변화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강설 시 기존 압설 노면 위에 결합력이 약한 저밀도 신설층 유입 → 타이어 트레드 블록의 전단 저항(Shear Resistance) 저하 및 눌림량 증가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CD2323"/>
                </a:solidFill>
                <a:latin typeface="맑은 고딕"/>
              </a:rPr>
              <a:t>• 평가 중 실시간 강설 유무에 따른 편차 증폭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- 2026년 95세트 중 42세트(44.2%)가 신설 조건에 노출되었으며, 세션 내 강설량이 급변할 경우 1·2차 제동/가속 편차가 정상 대비 2.1배 이상 확대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20440"/>
            <a:ext cx="5696712" cy="2395728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56616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③ 평가 위치 (Geographical Location &amp; Track Gradient)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4488"/>
            <a:ext cx="5440680" cy="1920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맑은 고딕"/>
              </a:rPr>
              <a:t>• 시험 트랙(Loop2) 내 구간별 미기후 및 노면 다짐도 편차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동일 세션 내에서도 트랙 진입부~종단부 위치 및 반복 주행 차선(Lane)에 따라 눌림량(Height difference)과 표면 온도가 상이함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05AAA"/>
                </a:solidFill>
                <a:latin typeface="맑은 고딕"/>
              </a:rPr>
              <a:t>• 단일 스칼라 기상청 데이터의 공간적 한계 보완 필요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기온·습도는 세션 단위의 거시적 열역학 상태를 대변하는 반면, 레이저 눌림량(Sinkage Depth)은 실제 타이어가 밟는 국소 노면의 기계적 강성을 직접 대변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696712" cy="2395728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566160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④ 기상 조건 (Weather: 기온 · 상대습도 · 절대습도)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04488"/>
            <a:ext cx="5440680" cy="19202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맑은 고딕"/>
              </a:rPr>
              <a:t>• 계면 수막 윤활(Water Film Lubrication) 지배 인자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타이어-눈 마찰열에 의해 발생하는 미시적 수막 두께는 대기 기온(Temp)과 수증기 포화도(상대습도 RH / 절대습도 AH)의 상호작용에 의해 결정됨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CD2323"/>
                </a:solidFill>
                <a:latin typeface="맑은 고딕"/>
              </a:rPr>
              <a:t>• 절대습도(AH) vs 상대습도(RH)의 열역학적 역할 분화 (26년 핵심 규명)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E1E1E"/>
                </a:solidFill>
                <a:latin typeface="맑은 고딕"/>
              </a:rPr>
              <a:t>   - 절대습도(AH)는 기온의 지수함수(r=0.970)로서 단독 사용(눌림량 결합) 시 유리하나, 기온과 동시 투입 시 극심한 다중공선성(VIF=16.89) 유발 → 기온 결합 시 상대습도(RH, VIF=2.53)가 최적!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6016752"/>
            <a:ext cx="11548872" cy="475488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150" b="1">
                <a:solidFill>
                  <a:srgbClr val="14233C"/>
                </a:solidFill>
                <a:latin typeface="맑은 고딕"/>
              </a:rPr>
              <a:t>🎯 핵심 시사점: Snow 실차 성능은 [열역학적 수막 윤활(기온·습도)]과 [기계적 압설 소결(눌림량·Preparing)]의 복합 함수이므로, 이상환경 분리 진단 및 다중공선성 제거가 보정 모델의 성패를 좌우함.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[1. 이상 환경 조건 정의 및 2026년 제동·가속 정량 집계]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11548872" cy="12344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3대 이상 환경(Abnormal Environment) 물리적 정의 및 2026년 데이터 분포 (총 95 쌍대세트 중 82세트 [86.3%]가 이상환경 노출)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CD2323"/>
                </a:solidFill>
                <a:latin typeface="맑은 고딕"/>
              </a:rPr>
              <a:t>• (1) -5°C &lt; Air Temp (고온 구간, 12세트 [12.6%]): 빙점 인접 고온에서 마찰열에 의한 수막(Water film) 급증으로 마찰계수 급락 및 제동거리/가속시간 최악 열화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14233C"/>
                </a:solidFill>
                <a:latin typeface="맑은 고딕"/>
              </a:rPr>
              <a:t>• (2) 융해·재동결 (Melting-Refreezing, 28세트 [29.5%]): 직전 고온(-5°C 초과) 노출 후 재냉각되며 표면 결정이 빙판화(Ice crust)되어 1·2차 간 노면 이질성 극대화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80" b="1">
                <a:solidFill>
                  <a:srgbClr val="005AAA"/>
                </a:solidFill>
                <a:latin typeface="맑은 고딕"/>
              </a:rPr>
              <a:t>• (3) 신설 (Snowfall, 42세트 [44.2%]): 강설 유입으로 인해 표층 전단 강도가 약화되고 주행 차선별 다짐도 편차가 증폭됨 (정상 조건은 단 13세트 [13.7%]에 불과)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212848"/>
          <a:ext cx="115488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25880"/>
                <a:gridCol w="777240"/>
                <a:gridCol w="1143000"/>
                <a:gridCol w="1143000"/>
                <a:gridCol w="1188720"/>
                <a:gridCol w="1188720"/>
                <a:gridCol w="1188720"/>
                <a:gridCol w="1188720"/>
                <a:gridCol w="1170432"/>
              </a:tblGrid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 영역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세부 지표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정상 조건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(Normal)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[n=13, 13.7%]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(1) -5°C &lt; Temp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(고온 수막)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[n=12, 12.6%]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(2) 융해·재동결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(재결정화)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[n=28, 29.5%]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(3) 신설 유입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(Snowfall)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[n=42, 44.2%]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이상환경 합산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(보정 전 Raw)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[n=82, 86.3%]</a:t>
                      </a:r>
                    </a:p>
                  </a:txBody>
                  <a:tcPr anchor="ctr">
                    <a:solidFill>
                      <a:srgbClr val="CD2323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정상 대비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이상환경 열화율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(Outlier/Normal)</a:t>
                      </a:r>
                    </a:p>
                  </a:txBody>
                  <a:tcPr anchor="ctr">
                    <a:solidFill>
                      <a:srgbClr val="CD2323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2026 ML 보정 후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(이상환경 82세트)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[Case 3 최적]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ML 보정에 따른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오차 감축률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(개선 효과)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단일 반복성 C.V (%)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100% (동일)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2.18% (고유성능)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반복성은 정상 수준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평균 제동거리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16.92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18.88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17.75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17.32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17.69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105% (+0.77m)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17.31 m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기준 노면 정규화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재현성 Std (m)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0.437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1.073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0.556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0.648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0.679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156% 폭증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0.391 m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-42.4% 감축 (정상화)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재현성 C.V / MAE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2.56% / 0.369m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5.74% / 1.760m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3.15% / 0.720m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3.79% / 0.890m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3.86% / 0.959m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151% / 260% 폭증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2.96% / 0.523m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MAE +45.5% 복원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단일 반복성 C.V (%)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96% (동일)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4.10% (고유성능)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반복성은 정상 수준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평균 가속시간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6.05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6.41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5.84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6.02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6.02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6.03 s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기준 노면 정규화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재현성 Std (s)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0.252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0.733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0.289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0.330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0.375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149% 폭증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0.205 s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-45.3% 감축 (정상화)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116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재현성 C.V / MAE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4.16% / 0.175s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11.60% / 1.388s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4.95% / 0.296s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5.70% / 0.320s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6.31% / 0.468s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152% / 267% 폭증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4.83% / 0.240s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MAE +48.6% 복원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20040" y="5833872"/>
            <a:ext cx="11548872" cy="621792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📌 핵심 발견 (25년 결과와 완벽 일치 &amp; 26년 확장 입증): 이상 환경에서도 단일 시험 내 반복성(Repeatability C.V: 제동 2.18%, 가속 4.10%)은 정상 조건과 차이가 없으나,
1·2차 시험 간 재현성(Reproducibility MAE)은 제동 260%(0.369→0.959m), 가속 267%(0.175→0.468s), 특히 -5°C 초과 고온에서 최대 792%(1.388s) 폭증함 → ML 보정 시 45.5%~48.6% 즉시 복원!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[2. 이상 환경 영향도 (Repeatability vs Reproducibility &amp; ML 복원 효과)]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정상 vs 3대 이상환경 조건 정의 및 단일 반복성(Repeatability)</a:t>
            </a:r>
          </a:p>
        </p:txBody>
      </p:sp>
      <p:pic>
        <p:nvPicPr>
          <p:cNvPr id="8" name="Picture 7" descr="F0_Abnormal_Env_Definition_and_Impact_Brk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595716"/>
            <a:ext cx="5440680" cy="1684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이상환경 1·2차 재현성(Reproducibility) 폭증 및 ML 보정 복원</a:t>
            </a:r>
          </a:p>
        </p:txBody>
      </p:sp>
      <p:pic>
        <p:nvPicPr>
          <p:cNvPr id="11" name="Picture 10" descr="F0_Abnormal_Env_Reproducibility_and_ML_Brk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87179"/>
            <a:ext cx="5440680" cy="33019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779008"/>
            <a:ext cx="11548872" cy="6858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80" b="1">
                <a:solidFill>
                  <a:srgbClr val="14233C"/>
                </a:solidFill>
                <a:latin typeface="맑은 고딕"/>
              </a:rPr>
              <a:t>■ [좌측] 단일 세트 내 반복성(Repeatability)은 이상환경에서도 정상 대비 96~100%로 일정함 (타이어 및 시험자 제어 자체는 정상).
■ [우측] 반면 1·2차 재현성(Reproducibility)은 이상환경 노출 시 C.V 151~152%, MAE 260~267%로 급증하나, 2026년 ML 보정 적용 시 제동 +45.5%, 가속 +48.6% 복원되어 정상 조건으로 수렴함.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[2-2. 24~25 vs 25~26 시즌 이상환경 영향도 &amp; 편차(Std/C.V) 비교 검증]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11548872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24~25 vs 25~26 시즌 이상환경 영향도, 편차 수준(Std, C.V) 및 제동거리·가속시간 증가량 종합 비교</a:t>
            </a:r>
          </a:p>
        </p:txBody>
      </p:sp>
      <p:pic>
        <p:nvPicPr>
          <p:cNvPr id="8" name="Picture 7" descr="G1_2425_vs_2526_Abnormal_Env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420" y="1280160"/>
            <a:ext cx="6748111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5779008"/>
            <a:ext cx="11548872" cy="6858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■ [두 시즌 일관성 검증] 24~25 및 25~26 모두 단일 반복성(C.V)은 정상/이상환경 간 0.04%p 이내로 동일하나, 1·2차 재현성 오차(Std, MAE)는 이상환경 노출 시 2.6~2.8배 폭증함.
■ [조건별 증가량 &amp; ML 복원] 고온(+1.96~2.52m), 신설(+1.19~2.76m), 융해·재동결(+0.83~0.84m) 제동거리 급증 현상이 완벽히 재현되었으며, ML 보정 시 제동 MAE 0.39m(정상수준), 가속 MAE 0.21s(정상화)로 완벽 복원됨.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[3. 기상 조건 상관성 분석 및 열역학 다중공선성(VIF) 규명]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672084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기온-습도-눌림량 상관성 및 열역학 상태방정식 (Clausius-Clapeyron)</a:t>
            </a:r>
          </a:p>
        </p:txBody>
      </p:sp>
      <p:pic>
        <p:nvPicPr>
          <p:cNvPr id="8" name="Picture 7" descr="F2_Thermodynamic_Collinearity_and_Featur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82741"/>
            <a:ext cx="6492240" cy="21689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09160"/>
            <a:ext cx="6492240" cy="1554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CD2323"/>
                </a:solidFill>
                <a:latin typeface="맑은 고딕"/>
              </a:rPr>
              <a:t>• 왜 Case 2 [기온 + 절대습도]는 다중공선성 함정에 빠지는가?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절대습도(AH)는 클라우지우스-클라페이론 수증기압 공식에 의해 기온(T)의 지수함수로 종속 결정됨 → 두 변수 간 상관계수 r = +0.970 (결정계수 R² = 0.941)의 사실상 동일 변수!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회귀 모델에 기온과 절대습도를 동시 투입하면 분산팽창계수 VIF = 16.89 (위험 임계치 10 초과)로 치솟아 가중치 부호 반전 및 과적합(Overfitting) 발생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896112"/>
            <a:ext cx="4690872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79" y="941832"/>
            <a:ext cx="4507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3대 입력 인자 조합(Case 1~3) 직교성(VIF) 비교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0" y="1325880"/>
          <a:ext cx="441655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960120"/>
                <a:gridCol w="1170432"/>
              </a:tblGrid>
              <a:tr h="521208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인자 조합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 간 상관계수</a:t>
                      </a:r>
                    </a:p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분산팽창계수</a:t>
                      </a:r>
                    </a:p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통계적·물리적 판정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521208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</a:t>
                      </a:r>
                    </a:p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[눌림량 + 절대습도]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 = +0.252</a:t>
                      </a:r>
                    </a:p>
                    <a:p>
                      <a:pPr algn="ctr">
                        <a:defRPr sz="90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(독립)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1.07</a:t>
                      </a:r>
                    </a:p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(완벽 직교)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✅ 최우수 직교성</a:t>
                      </a:r>
                    </a:p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기계적강성+열역학 통합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521208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Case 2</a:t>
                      </a:r>
                    </a:p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[기온 + 절대습도]</a:t>
                      </a:r>
                    </a:p>
                  </a:txBody>
                  <a:tcPr anchor="ctr">
                    <a:solidFill>
                      <a:srgbClr val="FDE8E8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0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r = +0.970</a:t>
                      </a:r>
                    </a:p>
                    <a:p>
                      <a:pPr algn="ctr">
                        <a:defRPr sz="900" b="0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(극단 종속)</a:t>
                      </a:r>
                    </a:p>
                  </a:txBody>
                  <a:tcPr anchor="ctr">
                    <a:solidFill>
                      <a:srgbClr val="FDE8E8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16.89</a:t>
                      </a:r>
                    </a:p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(심각 공선성)</a:t>
                      </a:r>
                    </a:p>
                  </a:txBody>
                  <a:tcPr anchor="ctr">
                    <a:solidFill>
                      <a:srgbClr val="FDE8E8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❌ 공선성 붕괴</a:t>
                      </a:r>
                    </a:p>
                    <a:p>
                      <a:pPr algn="ctr">
                        <a:defRPr sz="90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변수 중복/과적합 위험</a:t>
                      </a:r>
                    </a:p>
                  </a:txBody>
                  <a:tcPr anchor="ctr">
                    <a:solidFill>
                      <a:srgbClr val="FDE8E8"/>
                    </a:solidFill>
                  </a:tcPr>
                </a:tc>
              </a:tr>
              <a:tr h="521208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</a:t>
                      </a:r>
                    </a:p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[기온 + 상대습도]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 = +0.778</a:t>
                      </a:r>
                    </a:p>
                    <a:p>
                      <a:pPr algn="ctr">
                        <a:defRPr sz="90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(적정 보완)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2.53</a:t>
                      </a:r>
                    </a:p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(안전 구간)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✅ 기상 단독 최적</a:t>
                      </a:r>
                    </a:p>
                    <a:p>
                      <a:pPr algn="ctr">
                        <a:defRPr sz="90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온도+포화도 독립 포착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521208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판정 기준</a:t>
                      </a:r>
                    </a:p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(Statistical Rule)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|r| &lt; 0.80 권장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VIF &lt; 5.0 안전</a:t>
                      </a:r>
                    </a:p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(VIF &gt; 10 위험)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&amp; Case 3 채택</a:t>
                      </a:r>
                    </a:p>
                    <a:p>
                      <a:pPr algn="ctr">
                        <a:defRPr sz="90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(Case 2 폐기 권고)</a:t>
                      </a:r>
                    </a:p>
                  </a:txBody>
                  <a:tcPr anchor="ctr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0" y="4069080"/>
            <a:ext cx="4416552" cy="21488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맑은 고딕"/>
              </a:rPr>
              <a:t>• Case 1 [눌림량 + 절대습도]의 물리적 강점 (VIF = 1.07)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E1E1E"/>
                </a:solidFill>
                <a:latin typeface="맑은 고딕"/>
              </a:rPr>
              <a:t>   - 절대습도(AH) 하나에 기온과 수증기량 정보를 압축하고, 기상과 무관한 노면 기계적 다짐도(눌림량)를 직교 결합하여 모델 설명력(R²) 극대화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5AAA"/>
                </a:solidFill>
                <a:latin typeface="맑은 고딕"/>
              </a:rPr>
              <a:t>• Case 3 [기온 + 상대습도]의 물리적 강점 (VIF = 2.53)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E1E1E"/>
                </a:solidFill>
                <a:latin typeface="맑은 고딕"/>
              </a:rPr>
              <a:t>   - 레이저 센서 없이도, 기온(빙점 인접 비선형 천이)과 상대습도(공기 중 수증기 과포화/강설 임박도)를 분리 포착하여 실차 보정 오차(MAE) 최소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[3-2. 이상환경(융해·재동결/폭설) 제거 전·후 기상/노면 상관계수(|r|) 및 민감도 기울기 일관성 검증]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11548872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이상환경(융해·재동결/폭설) 제거 전·후 기상·노면 인자 상관성(r) 및 회귀 민감도 변화 검증</a:t>
            </a:r>
          </a:p>
        </p:txBody>
      </p:sp>
      <p:pic>
        <p:nvPicPr>
          <p:cNvPr id="8" name="Picture 7" descr="G2_2526_Abnormal_Env_Removal_Correlation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60" y="1280160"/>
            <a:ext cx="6863831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5779008"/>
            <a:ext cx="11548872" cy="6858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■ [차분(Δ) 전환 및 이상치 제거 효과] 전체 Raw 데이터 혼재 상태(|r|=0.15~0.25)에서 1·2차 차분(Diff) 전환 및 융해·재동결/폭설 이상치 제거 시 제동 |r|=0.61~0.66, 가속 |r|=0.59~0.69로 3~4배 급상승함.
■ [24~25 vs 25~26 물리 기울기 일치] 단위 변화당 제동거리 민감도가 절대습도 +1.08 m/(g/m³)[24~25: +1.10], 기온 +0.21 m/°C[24~25: +0.20], 눌림량 +0.55 m/mm[24~25: +0.58]로 95% 이상 완벽히 일치하여 보정식의 물리적 신뢰성 입증.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평가 환경 인자 영향도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[4. 기상 및 노면 조건 차이 데이터(Diff, Δ) 실측 vs 예측 상관성 분석]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제동거리 변화량(ΔBrk) 실측 vs ML 예측 상관성 (95세트)</a:t>
            </a:r>
          </a:p>
        </p:txBody>
      </p:sp>
      <p:pic>
        <p:nvPicPr>
          <p:cNvPr id="8" name="Picture 7" descr="1_Diff_Actual_vs_Predicted_char_brk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57" y="1298448"/>
            <a:ext cx="497219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가속시간 변화량(ΔAcc) 실측 vs ML 예측 상관성 (95세트)</a:t>
            </a:r>
          </a:p>
        </p:txBody>
      </p:sp>
      <p:pic>
        <p:nvPicPr>
          <p:cNvPr id="11" name="Picture 10" descr="1_Diff_Actual_vs_Predicted_char_acc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01" y="1298448"/>
            <a:ext cx="4998222" cy="4251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779008"/>
            <a:ext cx="11548872" cy="6858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🔎 차이 데이터(Diff, Δ = 2nd - 1st) 분석 결과: ① 1·2차 시험 간 기온·습도·눌림량 변화(ΔX)가 제동거리 변화(ΔBrk, R²=0.591) 및 가속시간 변화(ΔAcc, R²=0.626)의 약 60% 이상을 직접 설명하며,
② 특히 영하 5°C 이상 고온 영역과 큰 눌림량 변동 구간에서 비선형적인 급격한 성능 변화가 발생하므로 비선형 커널/앙상블(SVR, RF) 모델링이 필수적임.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노면 특성 정량화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[제동·가속 절대수치 성능맵의 한계 (트랙터 Preparing 불연속점) 및 상대수치(Δ) 전환]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오전/오후 세션 간 노면 그루밍(Preparing) 및 1·2차 눌림량 불연속성</a:t>
            </a:r>
          </a:p>
        </p:txBody>
      </p:sp>
      <p:pic>
        <p:nvPicPr>
          <p:cNvPr id="8" name="Picture 7" descr="2_Scatter_Overplot_1st_vs_2nd_char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49" y="1298448"/>
            <a:ext cx="4267006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06240"/>
            <a:ext cx="5394960" cy="1371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CD2323"/>
                </a:solidFill>
                <a:latin typeface="맑은 고딕"/>
              </a:rPr>
              <a:t>• 절대수치(Absolute Value) 성능맵의 구조적 한계 (25년 Slide 14 동일 현상)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E1E1E"/>
                </a:solidFill>
                <a:latin typeface="맑은 고딕"/>
              </a:rPr>
              <a:t>   - 오전 시험 종료 후 점심시간 트랙터 그루밍(Preparing) 작업을 수행하면, 기온·습도가 연속적이더라도 노면 경도와 눌림량이 인위적으로 초기화(Reset)되어 절대 제동거리/가속시간에 불연속 단차(Step Discontinuity) 발생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E1E1E"/>
                </a:solidFill>
                <a:latin typeface="맑은 고딕"/>
              </a:rPr>
              <a:t>   - 또한 의뢰서마다 기준 타이어 스펙이 달라 절대수치 직접 비교 시 타이어 고유 성능과 노면 효과가 혼재됨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896112"/>
            <a:ext cx="5696712" cy="48006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해결책: 1·2차 상대수치(Δ Difference) 변환 및 비선형 반응표면 모델링</a:t>
            </a:r>
          </a:p>
        </p:txBody>
      </p:sp>
      <p:pic>
        <p:nvPicPr>
          <p:cNvPr id="12" name="Picture 11" descr="3_Snow_Surface_char_height_VS_cd_test_ah_Con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32" y="1298448"/>
            <a:ext cx="3464560" cy="2834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4206240"/>
            <a:ext cx="5394960" cy="13716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5AAA"/>
                </a:solidFill>
                <a:latin typeface="맑은 고딕"/>
              </a:rPr>
              <a:t>• 상대수치(Relative Difference, ΔY = f(ΔX)) 보정 패러다임 확립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E1E1E"/>
                </a:solidFill>
                <a:latin typeface="맑은 고딕"/>
              </a:rPr>
              <a:t>   - 동일 타이어의 1차 대비 2차 환경 변화량(Δ눌림량, Δ기온, Δ습도)으로부터 성능 변화량(Δ제동거리, Δ가속시간)을 예측함으로써 타이어 고유 스펙 차이와 일자별 기저 불연속점을 완벽히 소거함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14233C"/>
                </a:solidFill>
                <a:latin typeface="맑은 고딕"/>
              </a:rPr>
              <a:t>   - 예측된 환경 외란량(ΔY_pred)을 2차 실측치에서 차감: Y_2nd_corrected = Y_2nd_raw - ΔY_pred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779008"/>
            <a:ext cx="11548872" cy="68580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100" b="1">
                <a:solidFill>
                  <a:srgbClr val="14233C"/>
                </a:solidFill>
                <a:latin typeface="맑은 고딕"/>
              </a:rPr>
              <a:t>💡 패러다임 전환 요약: [절대수치 성능맵(오전/오후 Preparing 불연속 단차 발생)] ➔ [1·2차 상대수치(Δ) 반응표면 보정맵(기저 단차 제거 및 순수 환경 변화량 ΔX → ΔY 정밀 복원)]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노면 특성 정량화 (제동 보정 성능맵)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[제동거리 상대수치(ΔBrk) Case 1 [눌림량+AH] vs Case 3 [기온+RH] 등고선 및 타이어별 복원]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379476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Case 1 [눌림량+절대습도] 제동 등고선맵</a:t>
            </a:r>
          </a:p>
        </p:txBody>
      </p:sp>
      <p:pic>
        <p:nvPicPr>
          <p:cNvPr id="8" name="Picture 7" descr="F4_Case1_Height_AH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47132"/>
            <a:ext cx="3611880" cy="13946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24528" y="896112"/>
            <a:ext cx="379476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94183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Case 3 [기온+상대습도] 제동 등고선맵</a:t>
            </a:r>
          </a:p>
        </p:txBody>
      </p:sp>
      <p:pic>
        <p:nvPicPr>
          <p:cNvPr id="11" name="Picture 10" descr="F10_Case3_Temp_RH_Con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3047132"/>
            <a:ext cx="3611880" cy="139467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896112"/>
            <a:ext cx="3730752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94183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3. 의뢰서 내 타이어별 1·2차 보정 실증</a:t>
            </a:r>
          </a:p>
        </p:txBody>
      </p:sp>
      <p:pic>
        <p:nvPicPr>
          <p:cNvPr id="14" name="Picture 13" descr="4_Tire_Subplots_25RD110006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734066"/>
            <a:ext cx="3511296" cy="16433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47888" y="3886200"/>
            <a:ext cx="3520440" cy="23317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4233C"/>
                </a:solidFill>
                <a:latin typeface="맑은 고딕"/>
              </a:rPr>
              <a:t>• 등고선 성능맵(Contour) 핵심 물리적 특징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E1E1E"/>
                </a:solidFill>
                <a:latin typeface="맑은 고딕"/>
              </a:rPr>
              <a:t>   - Case 1 [눌림량+절대습도]: Δ눌림량과 Δ절대습도 전 영역에 데이터가 고르게 퍼져 있어(VIF=1.07), RF/SVR이 왜곡 없는 경사면을 형성함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005AAA"/>
                </a:solidFill>
                <a:latin typeface="맑은 고딕"/>
              </a:rPr>
              <a:t>   - Case 3 [기온+상대습도]: Δ기온 상승과 Δ상대습도 변화를 독립 축으로 분리하여 빙점 근처의 급격한 제동 밀림 영역을 정밀 포착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8278"/>
                </a:solidFill>
                <a:latin typeface="맑은 고딕"/>
              </a:rPr>
              <a:t>• 타이어 스펙별(C1, C2, T1~T4) 일치성 향상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E1E1E"/>
                </a:solidFill>
                <a:latin typeface="맑은 고딕"/>
              </a:rPr>
              <a:t>   - 보정 전(Raw) 크게 벌어졌던 1·2차 제동거리 격차가 보정 후(Predict) 전 타이어 스펙에서 1차 기준선으로 정확히 복원됨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노면 특성 정량화 (가속 보정 성능맵)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신규 확장] 가속시간 상대수치(ΔAcc) Case 1 vs Case 3 등고선 및 타이어별 복원]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379476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Case 1 [눌림량+절대습도] 가속 등고선맵</a:t>
            </a:r>
          </a:p>
        </p:txBody>
      </p:sp>
      <p:pic>
        <p:nvPicPr>
          <p:cNvPr id="8" name="Picture 7" descr="F4_Case1_Height_AH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47438"/>
            <a:ext cx="3611880" cy="13940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24528" y="896112"/>
            <a:ext cx="3794760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94183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Case 3 [기온+상대습도] 가속 등고선맵</a:t>
            </a:r>
          </a:p>
        </p:txBody>
      </p:sp>
      <p:pic>
        <p:nvPicPr>
          <p:cNvPr id="11" name="Picture 10" descr="F10_Case3_Temp_RH_Con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3047438"/>
            <a:ext cx="3611880" cy="139405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896112"/>
            <a:ext cx="3730752" cy="544068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94183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3. 가속 타이어별 복원 및 비선형 슬립 특성</a:t>
            </a:r>
          </a:p>
        </p:txBody>
      </p:sp>
      <p:pic>
        <p:nvPicPr>
          <p:cNvPr id="14" name="Picture 13" descr="4_Tire_Subplots_25RD110006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738463"/>
            <a:ext cx="3511296" cy="16345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47888" y="3886200"/>
            <a:ext cx="3520440" cy="23317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4233C"/>
                </a:solidFill>
                <a:latin typeface="맑은 고딕"/>
              </a:rPr>
              <a:t>• 제동 대비 가속(Acceleration) 시험의 차별성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E1E1E"/>
                </a:solidFill>
                <a:latin typeface="맑은 고딕"/>
              </a:rPr>
              <a:t>   - 가속 시험(5→40 kph)은 초기 정지 마찰 돌파 시 구동륜 슬립(Wheel Spin)과 차량 TCS 개입이 동시에 작용하여 수막 윤활에 훨씬 민감하게 반응함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CD2323"/>
                </a:solidFill>
                <a:latin typeface="맑은 고딕"/>
              </a:rPr>
              <a:t>• 고온 천이 구간(ΔTemp &gt; +5°C)의 강한 비선형성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E1E1E"/>
                </a:solidFill>
                <a:latin typeface="맑은 고딕"/>
              </a:rPr>
              <a:t>   - 기온 상승 시 가속시간 지연(ΔAcc &gt; +1.0s)이 기하급수적으로 폭증하며, SVR(0.229s)과 RF(0.238s)가 이 비선형 임계 전이를 정확히 추종함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5AAA"/>
                </a:solidFill>
                <a:latin typeface="맑은 고딕"/>
              </a:rPr>
              <a:t>• 의뢰서 내 전 타이어(C1~T4) 가속시간 복원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1E1E1E"/>
                </a:solidFill>
                <a:latin typeface="맑은 고딕"/>
              </a:rPr>
              <a:t>   - 25RD110006EF 의뢰서 내 모든 타이어 세트의 1·2차 가속시간 단차가 완벽히 소거됨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노면 특성 정량화 (제동 보정식 검증)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[제동거리(Braking) 1st vs 2nd 보정 전·후 산점도 및 3대 조합 × 6종 ML 성능 비교]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3977639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제동거리 1st vs 2nd 보정 전(Raw) vs 보정 후(Corrected) 복원 산점도</a:t>
            </a:r>
          </a:p>
        </p:txBody>
      </p:sp>
      <p:pic>
        <p:nvPicPr>
          <p:cNvPr id="8" name="Picture 7" descr="F11_Case3_Temp_RH_Phy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47164"/>
            <a:ext cx="5440680" cy="215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3977639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제동 3대 인자 조합(Case 1~3) × 6종 ML 모델 LOOCV 성능 (95세트)</a:t>
            </a:r>
          </a:p>
        </p:txBody>
      </p:sp>
      <p:pic>
        <p:nvPicPr>
          <p:cNvPr id="11" name="Picture 10" descr="F1_Weather_vs_Surface_3Combo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19884"/>
            <a:ext cx="5440680" cy="181356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1154887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371600"/>
                <a:gridCol w="1371600"/>
                <a:gridCol w="1371600"/>
                <a:gridCol w="1463040"/>
                <a:gridCol w="1463040"/>
                <a:gridCol w="1581912"/>
              </a:tblGrid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제동(Braking) 인자 조합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(보정 전 Raw MAE = 0.878 m)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다중공선성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선형 회귀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(OLS / Ridge)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다항 회귀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(Poly 2차)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서포트 벡터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(SVR, RBF)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랜덤 포레스트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(RF, 최적)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최근접 이웃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(KNN)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최적 모델 기준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R² / 잔차 Std (m)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[눌림량 + 절대습도]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1.07 (최적)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0.654m (+25.5%)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0.642m (+26.9%)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0.538m (+38.7%)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0.516m (+41.2%)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0.663m (+24.5%)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R² = 0.591 (전체 1위)</a:t>
                      </a:r>
                    </a:p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Std = 0.757m (최소)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2 [기온 + 절대습도]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16.89 (위험)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0.671m (+23.6%)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0.658m (+25.1%)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0.591m (+32.7%)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0.511m (+41.8%)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0.680m (+22.5%)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0.522 (열화)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0.818m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[기온 + 상대습도]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2.53 (안전)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0.636m (+27.5%)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0.619m (+29.5%)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0.556m (+36.7%)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0.495m (+43.6%)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0.638m (+27.3%)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0.531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0.811m (MAE 1위)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Snow 노면 특성 정량화 (가속 보정식 검증)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신규 확장] 가속시간(Acceleration) 1st vs 2nd 산점도 및 3대 조합 × 6종 ML 비교]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3977639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가속시간 1st vs 2nd 보정 전(Raw) vs 보정 후(Corrected) 복원 산점도</a:t>
            </a:r>
          </a:p>
        </p:txBody>
      </p:sp>
      <p:pic>
        <p:nvPicPr>
          <p:cNvPr id="8" name="Picture 7" descr="F11_Case3_Temp_RH_Phy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47164"/>
            <a:ext cx="5440680" cy="215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3977639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가속 3대 인자 조합(Case 1~3) × 6종 ML 모델 LOOCV 성능 (95세트)</a:t>
            </a:r>
          </a:p>
        </p:txBody>
      </p:sp>
      <p:pic>
        <p:nvPicPr>
          <p:cNvPr id="11" name="Picture 10" descr="F1_Weather_vs_Surface_3Combo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19884"/>
            <a:ext cx="5440680" cy="181356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1154887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371600"/>
                <a:gridCol w="1371600"/>
                <a:gridCol w="1371600"/>
                <a:gridCol w="1463040"/>
                <a:gridCol w="1463040"/>
                <a:gridCol w="1581912"/>
              </a:tblGrid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가속(Accel.) 인자 조합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(보정 전 Raw MAE = 0.428 s)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다중공선성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선형 회귀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(OLS / Ridge)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다항 회귀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(Poly 2차)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서포트 벡터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(SVR, 최적)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랜덤 포레스트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(RF, 앙상블)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최근접 이웃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(KNN)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최적 모델 기준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R² / 잔차 Std (s)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[눌림량 + 절대습도]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1.06 (최적)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0.334s (+21.9%)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0.312s (+27.1%)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0.268s (+37.4%)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0.246s (+42.5%)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0.295s (+31.1%)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R² = 0.626 (전체 1위)</a:t>
                      </a:r>
                    </a:p>
                    <a:p>
                      <a:pPr algn="ctr">
                        <a:defRPr sz="88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Std = 0.475s (최소)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2 [기온 + 절대습도]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16.89 (위험)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0.326s (+23.8%)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0.305s (+28.7%)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0.251s (+41.4%)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0.241s (+43.7%)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0.289s (+32.5%)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0.568 (열화)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0.511s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[기온 + 상대습도]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2.53 (안전)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0.308s (+28.0%)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0.284s (+33.6%)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0.229s (+46.3%)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0.238s (+44.3%)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0.276s (+35.5%)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SVR R²=0.531 (MAE 1위)</a:t>
                      </a:r>
                    </a:p>
                    <a:p>
                      <a:pPr algn="ctr">
                        <a:defRPr sz="88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RF R²=0.587 (지수 1위)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순수 시험타이어(T1~T4) 성능지수(%p) 복원 검증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신규 핵심] 전통 Control 선형비례 보정의 한계 돌파 및 현업 판정 지수 안정화]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35204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제동(Braking) 시험타이어 54세트 성능지수(%p) 복원 산점도</a:t>
            </a:r>
          </a:p>
        </p:txBody>
      </p:sp>
      <p:pic>
        <p:nvPicPr>
          <p:cNvPr id="8" name="Picture 7" descr="F12_Case3_Temp_RH_Index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16398"/>
            <a:ext cx="5440680" cy="19541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35204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가속(Acceleration) 시험타이어 54세트 성능지수(%p) 복원 산점도</a:t>
            </a:r>
          </a:p>
        </p:txBody>
      </p:sp>
      <p:pic>
        <p:nvPicPr>
          <p:cNvPr id="11" name="Picture 10" descr="F12_Case3_Temp_RH_Index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15124"/>
            <a:ext cx="5440680" cy="1956736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4988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057400"/>
                <a:gridCol w="1600200"/>
                <a:gridCol w="1600200"/>
                <a:gridCol w="1600200"/>
                <a:gridCol w="1508760"/>
                <a:gridCol w="1490472"/>
              </a:tblGrid>
              <a:tr h="4914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 영역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(순수 시험타이어 T1~T4,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54세트 기준)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Control 선형비례 보정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(C1-C2 시간비례 내삽 지수)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[현재 현업 Baseline]</a:t>
                      </a:r>
                    </a:p>
                  </a:txBody>
                  <a:tcPr anchor="ctr">
                    <a:solidFill>
                      <a:srgbClr val="CD2323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1 [눌림량+절대습도]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RF 환경보정 후 지수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(개선율 / 잔차 Std)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2 [기온+절대습도]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RF 환경보정 후 지수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(개선율 / 잔차 Std)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3 [기온+상대습도]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RF 환경보정 후 지수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[최적 채택 모델]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3 SVR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환경보정 후 지수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(비교 모델)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실무적 의미</a:t>
                      </a:r>
                    </a:p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(타이어 우열 판정 효과)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4914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성능지수 (%p)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Index = (C_interp / T)×100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MAE = 3.439 %p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(Std = 2.216 %p)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* 패턴 간 차이(2.7%p) 초과!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2.887 %p (+16.1%)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1.307 %p, 최소)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2.894 %p (+15.8%)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1.482 %p)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2.732 %p (+20.6%)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(-0.707 %p 오차 감축)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2.930 %p (+14.8%)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패턴 간 순위 역전 방지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(2.7%p 경계선 이내 진입!)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성능지수 (%p)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Index = (C_interp / T)×100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MAE = 4.371 %p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(Std = 2.590 %p)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* 슬립 외란으로 오차 극심!</a:t>
                      </a:r>
                    </a:p>
                  </a:txBody>
                  <a:tcPr anchor="ctr">
                    <a:solidFill>
                      <a:srgbClr val="FDEBE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3.577 %p (+18.2%)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2.138 %p)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3.347 %p (+23.4%)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2.025 %p)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3.341 %p (+23.6%)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(-1.030 %p 오차 감축!)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3.535 %p (+19.1%)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슬립에 의한 지수 왜곡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1.03%p 직접 제거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왜 기존 Control 보정만으론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부족한가? (물리적 원인)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Control(C1→C2)은 시간 흐름에 따라 노면이 선형(직선)으로 변한다고 가정하나, 실제 T1~T4 평가 시점의 비선형 기온/습도/설질 급변을 반영하지 못함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눌림량과 절대습도로 T1~T4 평가 시점의 국소 노면 변동을 선제 제거 후 지수 산출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기온-절대습도 공선성으로 인해 지수 복원력이 Case 3 대비 열세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각 타이어(C, T)의 물리량을 표준 환경으로 먼저 정규화한 뒤 지수화하여 비선형 외란 완벽 흡수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물리량(s)은 1위이나 지수 비율 변환 시 RF가 더 안정적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제동·가속 모두 Case 3 RF가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성능지수(%p) 복원 1위 달성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전체 17개 의뢰서(ReqNo) 전수 검증 및 승패 분석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신규] 의뢰서 단위 제동·가속 오차 감축 실증 (Case 3 vs Case 1)]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379476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제동(Braking) 17개 의뢰서별 보정 전·후 오차 비교</a:t>
            </a:r>
          </a:p>
        </p:txBody>
      </p:sp>
      <p:pic>
        <p:nvPicPr>
          <p:cNvPr id="8" name="Picture 7" descr="F3_Request_Level_3Combos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513808"/>
            <a:ext cx="5440680" cy="28336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896112"/>
            <a:ext cx="5696712" cy="379476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가속(Acceleration) 17개 의뢰서별 보정 전·후 오차 비교</a:t>
            </a:r>
          </a:p>
        </p:txBody>
      </p:sp>
      <p:pic>
        <p:nvPicPr>
          <p:cNvPr id="11" name="Picture 10" descr="F3_Request_Level_3Combos_Perform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22400"/>
            <a:ext cx="5440680" cy="3216503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773168"/>
          <a:ext cx="11548871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2011680"/>
                <a:gridCol w="2011680"/>
                <a:gridCol w="1828800"/>
                <a:gridCol w="1856231"/>
              </a:tblGrid>
              <a:tr h="42291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구분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단위 (모수)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3 [기온+상대습도] 우세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1 [눌림량+절대습도] 우세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3 승률 (%)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우세 조건 요약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42291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물리량 &amp; 성능지수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17개 의뢰서 (ReqNo)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95개 전체 세트 / 54개 시험세트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물리량: 12승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성능지수: 11승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개별 세트(물리/지수): 57승 / 34승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물리량: 5승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성능지수: 6승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개별 세트(물리/지수): 38승 / 20승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물리량 70.6%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성능지수 64.7%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(세트 60~63%)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기온 일교차 및 습도 포화도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변동이 지배적인 대다수 세션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(Acceleration)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물리량 &amp; 성능지수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17개 의뢰서 (ReqNo)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95개 전체 세트 / 54개 시험세트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물리량(RF): 11승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성능지수(RF): 10승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개별 세트(물리/지수): 54승 / 31승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물리량(RF): 6승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의뢰서 성능지수(RF): 7승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개별 세트(물리/지수): 41승 / 23승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물리량 64.7%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성능지수 58.8%</a:t>
                      </a:r>
                    </a:p>
                    <a:p>
                      <a:pPr algn="ctr">
                        <a:defRPr sz="86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(세트 57~59%)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빙점 근처 수막 슬립 변화가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구동력을 지배하는 세션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의뢰서 단위 극적 복원 사례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(Best Restorations)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고온/강설 급변 의뢰서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(25RD110002 / 0003 / 0006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[제동 25RD110002]: Raw 2.668m → Case 3 0.725m (+72.8% 감축)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[가속 25RD110002]: Raw 1.883s → Case 3 0.258s (+86.3% 감축)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[제동 26RD110025]: 눌림량 급변(|ΔH|=1.14mm) 시 Case 1이 0.299m로 우세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[가속 26RD110021]: 노면 다짐도 변화 시 Case 1이 지수 1.63%p로 우세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상호 보완적</a:t>
                      </a:r>
                    </a:p>
                    <a:p>
                      <a:pPr algn="ctr">
                        <a:defRPr sz="86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Dual-Mode 당위성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일반 기상 외란은 Case 3,</a:t>
                      </a:r>
                    </a:p>
                    <a:p>
                      <a:pPr algn="ctr">
                        <a:defRPr sz="86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극단적 다짐도 단차는 Case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95개 타이어 세트 전수 오차 프로파일 및 고오차 원인 규명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신규] 4대 기상 레짐(Weather Regimes) 분류 및 잔류 고오차(Outlier) 물리적 진단]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6720840" cy="35204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95개 타이어 세트 전수 이동 일관성 파노라마 (E3)</a:t>
            </a:r>
          </a:p>
        </p:txBody>
      </p:sp>
      <p:pic>
        <p:nvPicPr>
          <p:cNvPr id="8" name="Picture 7" descr="E3_all_95_tires_shift_consistency_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21282"/>
            <a:ext cx="6492240" cy="23444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896112"/>
            <a:ext cx="4690872" cy="352044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79" y="941832"/>
            <a:ext cx="4507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고오차(Outlier) 상위 15개 세트 정밀 원인 프로파일 (E7)</a:t>
            </a:r>
          </a:p>
        </p:txBody>
      </p:sp>
      <p:pic>
        <p:nvPicPr>
          <p:cNvPr id="11" name="Picture 10" descr="E7_top15_outlier_tires_diagnostic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54349"/>
            <a:ext cx="4434840" cy="187828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4988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468880"/>
                <a:gridCol w="2468880"/>
                <a:gridCol w="2496312"/>
              </a:tblGrid>
              <a:tr h="39319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4대 기상·노면 레짐 (Regime)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대표 의뢰서 및 기상 조건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보정 전·후 오차 변화 (제동 / 가속)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물리적 메커니즘 진단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 및 모델 운용 전략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39319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Regime 1. 무강설·맑음 (Clear)</a:t>
                      </a:r>
                    </a:p>
                    <a:p>
                      <a:pPr algn="ctr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+ 큰 기온 일교차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25RD110002, 25RD110006</a:t>
                      </a:r>
                    </a:p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(ΔTemp +7~9°C 급상승, 무강설)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제동: 2.67m → 0.73m (+72.8% 복원)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가속: 1.88s → 0.26s (+86.3% 복원)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순수 열역학적 수막 두께 변화가 외란의 90% 이상을 차지하여 ML 모델이 완벽히 예측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✅ Case 3 [기온+상대습도] 단독으로</a:t>
                      </a:r>
                    </a:p>
                    <a:p>
                      <a:pPr algn="l">
                        <a:defRPr sz="85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완벽 보정 가능 (신뢰도 최상)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319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Regime 2. 균일 약설 (Light Snow)</a:t>
                      </a:r>
                    </a:p>
                    <a:p>
                      <a:pPr algn="ctr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+ 노면 다짐도(눌림량) 변화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26RD110021, 26RD110025</a:t>
                      </a:r>
                    </a:p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(약설 지속, |ΔH| = 0.8~1.3mm)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제동: 1.15m → Case 1 0.30m (+74%)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가속: 지수 4.8%p → Case 1 1.6%p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기온은 일정하나 강설 다짐도 및 그루밍 차이로 인해 기계적 눌림량(Sinkage)이 지배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✅ |ΔH| ≥ 0.7mm 감지 시</a:t>
                      </a:r>
                    </a:p>
                    <a:p>
                      <a:pPr algn="l">
                        <a:defRPr sz="85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Case 1 [눌림량+절대습도] 전환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</a:tr>
              <a:tr h="39319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Regime 3. 특수 스펙 예외</a:t>
                      </a:r>
                    </a:p>
                    <a:p>
                      <a:pPr algn="ctr">
                        <a:defRPr sz="8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(Extreme Spec Sensitivity)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25RD110016EF T1 (비스노우)</a:t>
                      </a:r>
                    </a:p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(일반 타이어 대비 민감도 2~3배)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특수 T1 제외 시 일반 6종은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1.71m → 0.59m (-66%) 완벽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24년 연구에서 확인된 바와 같이 컴파운드(Tg)별로 온도 민감도 기울기(Slope)가 상이함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🔧 차년도('27년) 스펙군(패턴 vs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컴파운드) 민감도 가중치 계수 도입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Regime 4. 세션 내 돌발 폭설</a:t>
                      </a:r>
                    </a:p>
                    <a:p>
                      <a:pPr algn="ctr">
                        <a:defRPr sz="85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(Intra-Session Heavy Snow)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평가 도중(1시간 내) 강설량 급변</a:t>
                      </a:r>
                    </a:p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(고오차 상위 15개 중 87% 집중)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• 세션 평균 기상값과 개별 타이어 주행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  시점 간 시차(Time-lag) 발생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세션 대표 기상 스칼라값 1개로는 세트별(10분 단위) 돌발 강설 변동을 해상하지 못함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🔧 Run/세트 단위 실시간 기상 로깅</a:t>
                      </a:r>
                    </a:p>
                    <a:p>
                      <a:pPr algn="l">
                        <a:defRPr sz="85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및 실시간 레이저 눌림량 매칭 고도화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제동 &amp; 가속 3대 인자 조합 최종 종합 성적표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[[2026 종합] 물리량(m, s) · 설명력(R²) · 성능지수(%p) · 의뢰서 승률 통합 벤치마크]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14400"/>
          <a:ext cx="11548871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19"/>
                <a:gridCol w="1234440"/>
                <a:gridCol w="1417320"/>
                <a:gridCol w="1417320"/>
                <a:gridCol w="1417320"/>
                <a:gridCol w="1417320"/>
                <a:gridCol w="1444752"/>
              </a:tblGrid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 도메인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세부 평가 지표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(검증 모수)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보정 전 기준선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(Raw / Control)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1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[눌림량 + 절대습도]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 = 1.07)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2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[기온 + 절대습도]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 = 16.89 공선성)</a:t>
                      </a:r>
                    </a:p>
                  </a:txBody>
                  <a:tcPr anchor="ctr">
                    <a:solidFill>
                      <a:srgbClr val="CD2323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Case 3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[기온 + 상대습도]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(VIF = 2.53 최적)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최우수 조합 판정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(Winner)</a:t>
                      </a:r>
                    </a:p>
                  </a:txBody>
                  <a:tcPr anchor="ctr">
                    <a:solidFill>
                      <a:srgbClr val="EB5F19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공학적 의의</a:t>
                      </a:r>
                    </a:p>
                  </a:txBody>
                  <a:tcPr anchor="ctr">
                    <a:solidFill>
                      <a:srgbClr val="2D3C55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공통 물리 특성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다중공선성 (VIF) 및 센서 요구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VIF = 1.07 (완벽 직교)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차량 레이저 센서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VIF = 16.89 (공선성 위험)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기상청 센서 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VIF = 2.53 (안전 구간)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기상청 센서 단독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(직교성)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(실용성)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2는 기온-절대습도 중복으로 폐기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물리량 오차 MAE (m)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[RF 모델 기준]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0.878 m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(이상환경 0.959m)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0.516 m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(+41.2% 개선)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0.511 m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(+41.8% 개선)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0.495 m</a:t>
                      </a:r>
                    </a:p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(+43.6% 개선, 1위)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(0.495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제동거리 오차를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절반 이하(&lt; 0.5m)로 압축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모델 설명력 (R²) &amp; 잔차 Std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[RF 모델 기준]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0.000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1.117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🏆 R² = 0.591 (1위)</a:t>
                      </a:r>
                    </a:p>
                    <a:p>
                      <a:pPr algn="ctr">
                        <a:defRPr sz="83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🏆 Std = 0.757m (1위)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0.522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0.818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0.531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0.811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(설명력 59.1%)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물리적 노면 눌림량 결합 시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극단치 분산 억제력 최강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순수 시험타이어(54세트)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성능지수 오차 MAE (%p)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3.439 %p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2.216%p)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2.887 %p (+16.1%)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🏆 Std = 1.307%p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2.894 %p (+15.8%)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1.482%p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2.732 %p (+20.6%)</a:t>
                      </a:r>
                    </a:p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(-0.71%p 추가 감축)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(2.732 %p)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패턴 간 차이(2.7%p) 이내로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지수 오차 진입 (순위역전 방지)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 (Braking)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40 → 5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(1,974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17개 의뢰서 / 95세트 승률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(Case 3 vs Case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 5승 / 지수 6승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(세트 38승 / 20승)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🏆 물리 12승 (70.6%)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🏆 지수 11승 (64.7%)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압도적 우세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(약 7 : 3 우위)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일반 기상 변동 세션 전반에서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3가 일관된 우위 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1·2차 물리량 오차 MAE (s)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[SVR / RF 최적 모델]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0.428 s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(이상환경 0.468s)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RF: 0.246 s (+42.5%)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SVR: 0.268 s (+37.4%)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RF: 0.241 s (+43.7%)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SVR: 0.251 s (+41.4%)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SVR: 0.229s (+46.3%)</a:t>
                      </a:r>
                    </a:p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RF: 0.238s (+44.3%)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SVR/RF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(0.229 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슬립에 의한 시간 지연을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0.23초 수준으로 정밀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모델 설명력 (R²) &amp; 잔차 Std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[RF 모델 기준]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0.000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0.754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🏆 R² = 0.626 (1위)</a:t>
                      </a:r>
                    </a:p>
                    <a:p>
                      <a:pPr algn="ctr">
                        <a:defRPr sz="830" b="1">
                          <a:solidFill>
                            <a:srgbClr val="005AAA"/>
                          </a:solidFill>
                          <a:latin typeface="맑은 고딕"/>
                        </a:defRPr>
                      </a:pPr>
                      <a:r>
                        <a:t>🏆 Std = 0.475s (1위)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R² = 0.568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0.511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RF R² = 0.587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SVR R² = 0.531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1 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(설명력 62.6%)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제동과 동일하게 설명력(R²) 및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잔차 표준편차는 Case 1이 1위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순수 시험타이어(54세트)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성능지수 오차 MAE (%p)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4.371 %p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(Std = 2.590%p)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3.577 %p (+18.2%)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2.138%p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3.347 %p (+23.4%)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Std = 2.025%p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🏆 3.341 %p (+23.6%)</a:t>
                      </a:r>
                    </a:p>
                    <a:p>
                      <a:pPr algn="ctr">
                        <a:defRPr sz="830" b="1">
                          <a:solidFill>
                            <a:srgbClr val="CD2323"/>
                          </a:solidFill>
                          <a:latin typeface="맑은 고딕"/>
                        </a:defRPr>
                      </a:pPr>
                      <a:r>
                        <a:t>(-1.03%p 대폭 감축!)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RF 1위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(3.341 %p)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기존 Control 비례보정 대비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지수 오차를 1.03%p 추가 감축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가속 (Accel.)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5 → 40 kph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(1,967 Runs,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95 쌍대세트)</a:t>
                      </a:r>
                    </a:p>
                  </a:txBody>
                  <a:tcPr anchor="ctr">
                    <a:solidFill>
                      <a:srgbClr val="DCE4F0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17개 의뢰서 / 95세트 승률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(Case 3 vs Case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물리 6승 / 지수 7승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(세트 41승 / 23승)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🏆 물리 11승 (64.7%)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🏆 지수 10승 (58.8%)</a:t>
                      </a: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Case 3 우세</a:t>
                      </a:r>
                    </a:p>
                    <a:p>
                      <a:pPr algn="ctr">
                        <a:defRPr sz="830" b="1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(약 6.5 : 3.5 우위)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제동·가속 단일 통합 파이프라인</a:t>
                      </a:r>
                    </a:p>
                    <a:p>
                      <a:pPr algn="ctr">
                        <a:defRPr sz="830" b="0">
                          <a:solidFill>
                            <a:srgbClr val="1E1E1E"/>
                          </a:solidFill>
                          <a:latin typeface="맑은 고딕"/>
                        </a:defRPr>
                      </a:pPr>
                      <a:r>
                        <a:t>구축의 완벽한 근거 확립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" y="5715000"/>
            <a:ext cx="11548872" cy="731520"/>
          </a:xfrm>
          <a:prstGeom prst="roundRect">
            <a:avLst>
              <a:gd name="adj" fmla="val 5000"/>
            </a:avLst>
          </a:prstGeom>
          <a:solidFill>
            <a:srgbClr val="FEF3E8"/>
          </a:solidFill>
          <a:ln w="19050">
            <a:solidFill>
              <a:srgbClr val="EB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050" b="1">
                <a:solidFill>
                  <a:srgbClr val="14233C"/>
                </a:solidFill>
                <a:latin typeface="맑은 고딕"/>
              </a:rPr>
              <a:t>🏆 최종 종합 결론: 제동과 가속 두 시험 모두에서 [1·2차 물리량 복원 MAE 1위] 및 [순수 시험타이어 성능지수(%p) 복원 1위]는 모두 『Case 3 [기온 + 상대습도] (RF/SVR)』가 차지함!
반면, 『Case 1 [눌림량 + 절대습도]』는 다중공선성이 없는 완벽한 직교성(VIF=1.07)을 바탕으로 모델 설명력(R²=0.591/0.626)과 잔차 분산(Std) 억제에서 1위를 기록하여 상호 보완적 Dual-Mode 운용이 최적임.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48872" cy="566928"/>
          </a:xfrm>
          <a:prstGeom prst="rect">
            <a:avLst/>
          </a:prstGeom>
          <a:solidFill>
            <a:srgbClr val="E6E8EC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109728" cy="566928"/>
          </a:xfrm>
          <a:prstGeom prst="rect">
            <a:avLst/>
          </a:prstGeom>
          <a:solidFill>
            <a:srgbClr val="EB5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1247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14233C"/>
                </a:solidFill>
                <a:latin typeface="맑은 고딕"/>
              </a:rPr>
              <a:t>결론 및 실무 Dual-Mode 보정 운용 표준 가이드라인</a:t>
            </a:r>
            <a:r>
              <a:rPr sz="1650" b="1">
                <a:solidFill>
                  <a:srgbClr val="005AAA"/>
                </a:solidFill>
                <a:latin typeface="맑은 고딕"/>
              </a:rPr>
              <a:t>  [현업 Snow 실차 평가 보정 프로토콜 및 '27~'28년 고도화 로드맵]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548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6973"/>
                </a:solidFill>
                <a:latin typeface="맑은 고딕"/>
              </a:rPr>
              <a:t>2026 Snow 기반기술 연구 진행현황 보고 (노면 정량화 및 환경 영향도 보정)  | 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96112"/>
            <a:ext cx="5669280" cy="38862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9418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1. Mode A: 주력 기본 보정 (Primary Standard — Case 3 [기온 + 상대습도])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394960" cy="33375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EB5F19"/>
                </a:solidFill>
                <a:latin typeface="맑은 고딕"/>
              </a:rPr>
              <a:t>• 적용 대상: 전사 Snow 제동(Braking) 및 가속(Acceleration) 실차 평가 기본 파이프라인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레이저 눌림량 센서 미장착 차량이나 센서 결측 세션에서도 기상청/PG 기상대 데이터(기온, 상대습도)만으로 100% 즉시 구동 가능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14233C"/>
                </a:solidFill>
                <a:latin typeface="맑은 고딕"/>
              </a:rPr>
              <a:t>• 표준 알고리즘 및 기대 효과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1">
                <a:solidFill>
                  <a:srgbClr val="005AAA"/>
                </a:solidFill>
                <a:latin typeface="맑은 고딕"/>
              </a:rPr>
              <a:t>   - [제동 &amp; 가속 성능지수(%p) 산출]: Case 3 Random Forest (RF) 단일 표준 채택 → 제동 물리량 +43.6%(0.495m), 제동 지수 +20.6%(2.732%p), 가속 지수 +23.6%(3.341%p) 개선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[가속 순수 물리량(s) 정밀 분석]: Case 3 SVR (RBF 커널) 병행 지원 → 가속 물리량 +46.3%(0.229s) 최고 복원율 달성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008278"/>
                </a:solidFill>
                <a:latin typeface="맑은 고딕"/>
              </a:rPr>
              <a:t>• 2단계 하이브리드 지수 산출 프로토콜 (Two-Stage Correction)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Step 1: 각 타이어 세트(C1, T1~T4, C2)의 측정 물리량에서 Case 3 ML 예측 환경 외란량(ΔY_pred)을 선제 차감하여 기준 환경으로 정규화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Step 2: 환경 정규화된 Control(C1', C2')을 시간 비례 내삽하여 시험타이어(T1'~T4') 성능지수(%p) 산출 → 잔류 시험장 드리프트까지 이중 제거!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896112"/>
            <a:ext cx="5696712" cy="38862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941832"/>
            <a:ext cx="5513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2. Mode B: 물리 노면 교차검증 (Secondary — Case 1 [눌림량 + 절대습도])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5394960" cy="33375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CD2323"/>
                </a:solidFill>
                <a:latin typeface="맑은 고딕"/>
              </a:rPr>
              <a:t>• 적용 대상 (전환 트리거 조건): 노면 다짐도 급변 세션 (|Δ눌림량| ≥ 0.7 mm)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기온과 습도는 거의 변하지 않았으나, 트랙터 그루밍(Preparing) 강도 차이, 신설 유입 후 다짐도 변화, 차선 이동 등으로 인해 1·2차 눌림량 차이가 0.7mm 이상 발생한 세션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14233C"/>
                </a:solidFill>
                <a:latin typeface="맑은 고딕"/>
              </a:rPr>
              <a:t>• 표준 알고리즘 및 물리적 강점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1">
                <a:solidFill>
                  <a:srgbClr val="005AAA"/>
                </a:solidFill>
                <a:latin typeface="맑은 고딕"/>
              </a:rPr>
              <a:t>   - Case 1 Random Forest (RF) 적용 → 다중공선성이 완전히 배제된 직교성(VIF=1.07)을 바탕으로 최고 설명력(제동 R²=0.591, 가속 R²=0.626) 및 최소 잔차 표준편차(Std) 보장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기상 스칼라값만으로는 포착할 수 없는 국소 노면의 기계적 전단 강성 변화를 직접 보정하여 고오차(Outlier) 발생을 원천 차단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CD2323"/>
                </a:solidFill>
                <a:latin typeface="맑은 고딕"/>
              </a:rPr>
              <a:t>• 절대 금지 규칙 (Deprecation Rule)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1E1E1E"/>
                </a:solidFill>
                <a:latin typeface="맑은 고딕"/>
              </a:rPr>
              <a:t>   - Case 2 [기온 + 절대습도] 조합은 열역학적 종속성(r=0.970, VIF=16.89)으로 인해 과적합 및 전 영역 성능 열화를 유발하므로 실무 보정식에서 공식 폐기함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892040"/>
            <a:ext cx="11548872" cy="1572768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4937759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4233C"/>
                </a:solidFill>
                <a:latin typeface="맑은 고딕"/>
              </a:rPr>
              <a:t>■ 3. 2027~2028년 차기 연구 고도화 계획 (Next Steps)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14233C"/>
                </a:solidFill>
                <a:latin typeface="맑은 고딕"/>
              </a:rPr>
              <a:t>• ① 타이어 스펙 민감도(Spec Sensitivity) 연동 보정 ('27년): 24년 연구에서 규명된 컴파운드(유리전이온도 Tg) 및 패턴별 환경 민감도 기울기 계수를 Case 3/Case 1 ML 모델의 상호작용 항으로 결합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005AAA"/>
                </a:solidFill>
                <a:latin typeface="맑은 고딕"/>
              </a:rPr>
              <a:t>• ② 세트/Run 단위 고해상도 실시간 기상·노면 매칭 ('27년): 세션 내 돌발 강설(Regime 4) 오차를 해소하기 위해 1분 단위 실시간 기상 로거 및 차량 탑재 레이저 눌림량 데이터를 Run 단위로 직접 매칭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19" b="1">
                <a:solidFill>
                  <a:srgbClr val="008278"/>
                </a:solidFill>
                <a:latin typeface="맑은 고딕"/>
              </a:rPr>
              <a:t>• ③ Snow Handling / Slalom 횡방향(Lateral) 평가 확장 및 판정 시스템 자동화 ('27~'28년): 종방향(제동·가속)에서 완성된 Dual-Mode ML 보정 프레임워크를 횡방향 평가 및 사내 공식 시험성적서 시스템에 내장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